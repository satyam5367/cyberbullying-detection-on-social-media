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DC65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B36-444E-810C-0F892315D13F}"/>
              </c:ext>
            </c:extLst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B36-444E-810C-0F892315D13F}"/>
              </c:ext>
            </c:extLst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B36-444E-810C-0F892315D13F}"/>
              </c:ext>
            </c:extLst>
          </c:dPt>
          <c:dPt>
            <c:idx val="3"/>
            <c:invertIfNegative val="0"/>
            <c:bubble3D val="0"/>
            <c:spPr>
              <a:solidFill>
                <a:srgbClr val="0077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B36-444E-810C-0F892315D13F}"/>
              </c:ext>
            </c:extLst>
          </c:dPt>
          <c:dPt>
            <c:idx val="4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B36-444E-810C-0F892315D13F}"/>
              </c:ext>
            </c:extLst>
          </c:dPt>
          <c:dPt>
            <c:idx val="5"/>
            <c:invertIfNegative val="0"/>
            <c:bubble3D val="0"/>
            <c:spPr>
              <a:solidFill>
                <a:srgbClr val="6D2E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B36-444E-810C-0F892315D13F}"/>
              </c:ext>
            </c:extLst>
          </c:dPt>
          <c:dPt>
            <c:idx val="6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B36-444E-810C-0F892315D13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Clean</c:v>
                </c:pt>
                <c:pt idx="1">
                  <c:v>Toxic</c:v>
                </c:pt>
                <c:pt idx="2">
                  <c:v>Obscene</c:v>
                </c:pt>
                <c:pt idx="3">
                  <c:v>Insult</c:v>
                </c:pt>
                <c:pt idx="4">
                  <c:v>Severe Toxic</c:v>
                </c:pt>
                <c:pt idx="5">
                  <c:v>Identity Hate</c:v>
                </c:pt>
                <c:pt idx="6">
                  <c:v>Threat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143346</c:v>
                </c:pt>
                <c:pt idx="1">
                  <c:v>15294</c:v>
                </c:pt>
                <c:pt idx="2">
                  <c:v>8449</c:v>
                </c:pt>
                <c:pt idx="3">
                  <c:v>7877</c:v>
                </c:pt>
                <c:pt idx="4">
                  <c:v>1595</c:v>
                </c:pt>
                <c:pt idx="5">
                  <c:v>1405</c:v>
                </c:pt>
                <c:pt idx="6">
                  <c:v>478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1B36-444E-810C-0F892315D1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8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NB + BoW</c:v>
                </c:pt>
              </c:strCache>
            </c:strRef>
          </c:tx>
          <c:spPr>
            <a:solidFill>
              <a:srgbClr val="A0C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ROC-AUC×100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84.3</c:v>
                </c:pt>
                <c:pt idx="1">
                  <c:v>79.599999999999994</c:v>
                </c:pt>
                <c:pt idx="2">
                  <c:v>77.400000000000006</c:v>
                </c:pt>
                <c:pt idx="3">
                  <c:v>78.5</c:v>
                </c:pt>
                <c:pt idx="4">
                  <c:v>88.1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66-4C91-B48E-257F739869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NB + TF-IDF</c:v>
                </c:pt>
              </c:strCache>
            </c:strRef>
          </c:tx>
          <c:spPr>
            <a:solidFill>
              <a:srgbClr val="5B9DB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ROC-AUC×100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86.1</c:v>
                </c:pt>
                <c:pt idx="1">
                  <c:v>81.3</c:v>
                </c:pt>
                <c:pt idx="2">
                  <c:v>80.2</c:v>
                </c:pt>
                <c:pt idx="3">
                  <c:v>80.7</c:v>
                </c:pt>
                <c:pt idx="4">
                  <c:v>90.3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66-4C91-B48E-257F7398690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LR + BoW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ROC-AUC×100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89.7</c:v>
                </c:pt>
                <c:pt idx="1">
                  <c:v>88.2</c:v>
                </c:pt>
                <c:pt idx="2">
                  <c:v>86.5</c:v>
                </c:pt>
                <c:pt idx="3">
                  <c:v>87.3</c:v>
                </c:pt>
                <c:pt idx="4">
                  <c:v>92.7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66-4C91-B48E-257F7398690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LR + TF-IDF ★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ROC-AUC×100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92.4</c:v>
                </c:pt>
                <c:pt idx="1">
                  <c:v>91</c:v>
                </c:pt>
                <c:pt idx="2">
                  <c:v>90.3</c:v>
                </c:pt>
                <c:pt idx="3">
                  <c:v>90.6</c:v>
                </c:pt>
                <c:pt idx="4">
                  <c:v>95.1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E66-4C91-B48E-257F739869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0F8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9030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6583680" y="548640"/>
            <a:ext cx="2103120" cy="2103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6400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Cyberbullying Detection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365760" y="15087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Social Media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65760" y="2331720"/>
            <a:ext cx="5029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24688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Concept-2 (CSE 3968)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Report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3200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r>
              <a:rPr lang="en-US" sz="13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Satyam Kumar  •  Darshan Lathi  •  Ayush Kumar  •  Nikhil Kumar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3611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ITER, Siksha 'O' Anusandhan University  |  Section: 23412P1  |  6th Semester, CSE  |  May 2026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Deemed to be University | Department of Computer Science &amp;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(12–17)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cyberbullying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A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972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in 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internet users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affected globally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0515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0972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Billions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035040" y="1691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generated daily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manually reviewed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2606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Challenges with Existing Systems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9981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High false positive rates suppress free expression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5701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Static keyword filters become obsolete rapidly as slang evolves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1421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Severe class imbalance — cyberbullying instances outnumbered 10:1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434840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47141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Poor generalizability across platforms (Twitter, Reddit, gaming chats)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OBJECTIVES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493776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361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end-to-end NLP pipeline for cyberbullying classification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075688"/>
            <a:ext cx="4114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Naïve Bayes vs Logistic Regression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642616"/>
            <a:ext cx="4114800" cy="493776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700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≥88% accuracy &amp; ≥85% macro F1-score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209544"/>
            <a:ext cx="4114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23697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using Accuracy, Precision, Recall, F1, ROC-AUC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776472"/>
            <a:ext cx="4114800" cy="493776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80390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real-time prediction interface for live text inputs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SECONDARY OBJECTIVES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508760"/>
            <a:ext cx="4114800" cy="493776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5361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thorough Exploratory Data Analysis (EDA)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075688"/>
            <a:ext cx="4114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BoW vs TF-IDF feature representations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642616"/>
            <a:ext cx="4114800" cy="493776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6700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SMOTE oversampling to handle class imbalance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209544"/>
            <a:ext cx="4114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23697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LR coefficients for model interpretability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776472"/>
            <a:ext cx="4114800" cy="493776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80390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methodology for full reproducibility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Kaggle Toxic Comment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19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159,571 Wikipedia talk page comments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toxic • severe_toxic • obscene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• insult • identity_hate • clean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146304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786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89.83% clean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20240" y="2560320"/>
            <a:ext cx="2377440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25786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10.17% toxic (various)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005840"/>
            <a:ext cx="4023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🐦  Twitter Hate Speech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389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(Davidson et al., 2017)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719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24,802 manually labeled tweets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9933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0: Hate speech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1: Offensive (not hate)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2: Neither (merged as positive)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37760" y="2560320"/>
            <a:ext cx="731520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57860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2560320"/>
            <a:ext cx="310896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25786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 non-hate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3474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 Distribution — Kaggle Dataset</a:t>
            </a:r>
            <a:endParaRPr lang="en-US" sz="14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274320" y="3840480"/>
          <a:ext cx="859536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 &amp;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55448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51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1554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+ Twitter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83080" y="1481328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005840"/>
            <a:ext cx="1554480" cy="10972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051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1554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clouds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1481328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4760" y="1005840"/>
            <a:ext cx="155448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94760" y="1051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1554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tokenize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49240" y="1481328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0" y="1005840"/>
            <a:ext cx="1554480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1051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40" y="1554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 &amp; TF-IDF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Unigrams+Bigrams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32320" y="1481328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60920" y="1005840"/>
            <a:ext cx="1554480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60920" y="1051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60920" y="1554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10:1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2286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 Pipeline (8 Steps)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2697480"/>
            <a:ext cx="4114800" cy="384048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724912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 → URL Removal → HTML Tag Strip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3127248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154680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Character Removal → Whitespace Normalization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3557016"/>
            <a:ext cx="4114800" cy="384048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584448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(NLTK word_tokenize)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3986784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14216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 Removal (179 words) → Lemmatization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74320" y="4416552"/>
            <a:ext cx="4114800" cy="384048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443984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Slang Expansion (120-term dictionary: wtf → 'what the hell')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754880" y="2286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754880" y="269748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92040" y="27157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Bag-of-Words (BoW)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92040" y="291693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term frequency counts. Simple but ignores context &amp; term importance.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32004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92040" y="32186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TF-IDF Vectorization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92040" y="34198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terms by frequency × rarity. Better discrimination for rare toxic terms.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370332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92040" y="37216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Bigrams (n-gram=1,2)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92040" y="392277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'go die', 'kill yourself' — patterns lost in unigram models.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54880" y="420624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892040" y="42245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Vocabulary Cap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892040" y="442569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50,000 features retained for computational efficiency.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Multinomial Naïve Bayes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classifier using Bayes' theorem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7510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independence assumption between features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handles discrete word frequency counts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77977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 training — linear time complexity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1821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hyperparameter tuning (smoothing α)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58444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remarkably well despite independence assumption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02412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157276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Discriminative probabilistic classifier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97510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L-BFGS solver with L2 regularization (C=1.0)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3774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function for calibrated class probabilities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77977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for hyperparameter C tuning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1821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analysis → full model interpretability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58444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optimizes the classification decision boundary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2519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Class Imbalance Handling — SMOTE (Synthetic Minority Over-sampling Technique): Applied exclusively to training data to generate synthetic minority-class instances via interpolation between existing examples. Improves recall by ~11–12 percentage points without noise inflation.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841248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1 — INPUT LAYER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3075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social media text (tweets, comments, forum posts)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datasets: Kaggle Toxic Comments | Twitter Hate Speech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34840" y="1773936"/>
            <a:ext cx="274320" cy="1371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11096"/>
            <a:ext cx="8412480" cy="7498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293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2 — PREPROCESSING &amp; FEATURE EXTRACTION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 → URL Removal → HTML Strip → Special Char Removal → Tokenization → Stopword Removal → Lemmatization → Slang Expansion → TF-IDF Vectorization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2660904"/>
            <a:ext cx="274320" cy="1371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798064"/>
            <a:ext cx="841248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16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3 — MODEL TRAINING &amp; CLASSIFICATION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0815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Balancing  |  Multinomial Naïve Bayes  |  Logistic Regression (L2)  |  5-Fold Cross-Validation  |  Hyperparameter Tuning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3547872"/>
            <a:ext cx="274320" cy="1371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85032"/>
            <a:ext cx="8412480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4 — OUTPUT 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96849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Label (Toxic / Non-Toxic)  |  Probability Score (0–1)  |  Moderation Alert Flag  |  Performance Report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572000"/>
            <a:ext cx="4114800" cy="411480"/>
          </a:xfrm>
          <a:prstGeom prst="rect">
            <a:avLst/>
          </a:prstGeom>
          <a:solidFill>
            <a:srgbClr val="F0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902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Training Pathway (Offline): Data → EDA → Preprocess → Feature Extract → SMOTE → Fit → Evaluate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4572000"/>
            <a:ext cx="4114800" cy="411480"/>
          </a:xfrm>
          <a:prstGeom prst="rect">
            <a:avLst/>
          </a:prstGeom>
          <a:solidFill>
            <a:srgbClr val="F0F8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45902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Inference Pathway (Real-Time): New Text → Preprocess → Vectorize → Predict → Label + Score (&lt;5ms)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Model Performance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53035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05840"/>
            <a:ext cx="3108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60720" y="1051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92.4%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760720" y="14813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(LR + TF-IDF)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760720" y="2011680"/>
            <a:ext cx="3108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A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2057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90.6%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760720" y="24871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(LR + TF-IDF)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60720" y="3017520"/>
            <a:ext cx="3108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60720" y="3063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0.951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760720" y="34930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(LR + TF-IDF)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E8F8F0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42519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SMOTE Impact: Recall improved by +11–12 percentage points for both models (NB: 68.3% → 80.2%, LR: 79.4% → 90.3%) without degrading precision — confirming class balancing is essential for real-world cyberbullying detection.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 &amp; Discussion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Discriminative Features (Logistic Regression)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5029200" cy="34747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Coefficient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idiot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Toxic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die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Toxic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hate 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Toxic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yourself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Toxic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stupid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Toxic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appreciate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C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C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Non-Toxic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 article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C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C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Non-Toxic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C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C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Non-Toxic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0" y="10058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C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0" y="141732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interpretability via LR coefficients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0" y="167511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&lt; 5ms — real-time capable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0" y="195224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independently replaceable pipeline</a:t>
            </a:r>
            <a:endParaRPr lang="en-US" sz="1200" dirty="0"/>
          </a:p>
        </p:txBody>
      </p:sp>
      <p:sp>
        <p:nvSpPr>
          <p:cNvPr id="5" name="Text 7"/>
          <p:cNvSpPr/>
          <p:nvPr/>
        </p:nvSpPr>
        <p:spPr>
          <a:xfrm>
            <a:off x="5486400" y="2241335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boosts recall without precision loss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0" y="2570519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confirms generalizability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0" y="3063767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669280" y="3332461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pipeline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69280" y="3661645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Context-blind (TF-IDF)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69280" y="4037339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vocabulary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69280" y="4387011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only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Applications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789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 Social Media Platforms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 harmful posts on Twitter, Instagram, TikTok, YouTube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0789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🎓  Ed-Tech Platforms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student interactions on e-learning tools &amp; school apps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0789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Mental Health Apps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harassment victims and connect with support resources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3134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🏢  Enterprise Tools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697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Slack/Teams messages to enforce anti-harassment policies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2402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23134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 Gaming Ecosystems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2697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toxic player chat and issue automated warnings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2402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23134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Law Enforcement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697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investigators analyzing digital communications for evidence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3520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74320" y="3913632"/>
            <a:ext cx="4206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9593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Transformer-Based: Fine-tune BERT / RoBERTa / HateBERT for contextual semantic understanding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913632"/>
            <a:ext cx="4206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9593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Multilingual Support: mBERT &amp; XLM-RoBERTa for Hindi, Odia, Bengali, Arabic detection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416552"/>
            <a:ext cx="4206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4622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  Multi-Label Classification: Predict all 6 toxicity sub-types simultaneously for granular moderation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4416552"/>
            <a:ext cx="4206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44622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Federated Learning: Train across decentralized devices without centralizing private user data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5943600" y="457200"/>
            <a:ext cx="2926080" cy="2926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5577840" cy="621792"/>
          </a:xfrm>
          <a:prstGeom prst="rect">
            <a:avLst/>
          </a:prstGeom>
          <a:solidFill>
            <a:srgbClr val="0D2A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103327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+ TF-IDF achieved 92.4% accuracy, 90.6% F1-score &amp; ROC-AUC of 0.951 — exceeding all project targets.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" y="1709928"/>
            <a:ext cx="5577840" cy="621792"/>
          </a:xfrm>
          <a:prstGeom prst="rect">
            <a:avLst/>
          </a:prstGeom>
          <a:solidFill>
            <a:srgbClr val="0D2A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73736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SMOTE-based class balancing improved minority recall by 11–12 percentage points, a critical improvement for real-world deployment.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2414016"/>
            <a:ext cx="5577840" cy="621792"/>
          </a:xfrm>
          <a:prstGeom prst="rect">
            <a:avLst/>
          </a:prstGeom>
          <a:solidFill>
            <a:srgbClr val="0D2A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441448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consistently outperformed Bag-of-Words; LR outperformed Naïve Bayes across all 5 metrics and all 5 CV folds.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3118104"/>
            <a:ext cx="5577840" cy="621792"/>
          </a:xfrm>
          <a:prstGeom prst="rect">
            <a:avLst/>
          </a:prstGeom>
          <a:solidFill>
            <a:srgbClr val="0D2A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3145536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computationally lightweight (&lt;5ms inference), interpretable, modular, and ready for real-time deployment.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040" y="3822192"/>
            <a:ext cx="5577840" cy="621792"/>
          </a:xfrm>
          <a:prstGeom prst="rect">
            <a:avLst/>
          </a:prstGeom>
          <a:solidFill>
            <a:srgbClr val="0D2A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3849624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reproducible research baseline and underscores the moral responsibility of ML professionals in digital safety.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4736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"Making Digital Spaces Safer — One Prediction at a Time"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1191</Words>
  <Application>Microsoft Office PowerPoint</Application>
  <PresentationFormat>On-screen Show (16:9)</PresentationFormat>
  <Paragraphs>202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Cyberbullying Detection on Social Media</dc:title>
  <dc:subject>PptxGenJS Presentation</dc:subject>
  <dc:creator>PptxGenJS</dc:creator>
  <cp:lastModifiedBy>Satyam Kumar</cp:lastModifiedBy>
  <cp:revision>2</cp:revision>
  <dcterms:created xsi:type="dcterms:W3CDTF">2026-05-05T05:28:15Z</dcterms:created>
  <dcterms:modified xsi:type="dcterms:W3CDTF">2026-05-07T15:54:01Z</dcterms:modified>
</cp:coreProperties>
</file>